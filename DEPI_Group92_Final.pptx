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3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7679" y="274320"/>
            <a:ext cx="2286000" cy="2286000"/>
          </a:xfrm>
          <a:prstGeom prst="ellipse">
            <a:avLst/>
          </a:prstGeom>
          <a:solidFill>
            <a:srgbClr val="00D4AA">
              <a:alpha val="10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6080" y="502920"/>
            <a:ext cx="5852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Multi-Model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926080" y="1170432"/>
            <a:ext cx="5852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Chat App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2926080" y="1965960"/>
            <a:ext cx="585216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926080" y="1965960"/>
            <a:ext cx="5852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Privacy-First  ·  100% Offline  ·  Local AI  ·  No Cloud  ·  No APIs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0" y="2651760"/>
            <a:ext cx="1097280" cy="329184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0" y="265176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0" y="2651760"/>
            <a:ext cx="1097280" cy="329184"/>
          </a:xfrm>
          <a:prstGeom prst="rect">
            <a:avLst/>
          </a:prstGeom>
          <a:solidFill>
            <a:srgbClr val="58D6FF">
              <a:alpha val="20000"/>
            </a:srgbClr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265176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303520" y="2651760"/>
            <a:ext cx="1097280" cy="329184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0" y="265176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92240" y="2651760"/>
            <a:ext cx="1097280" cy="329184"/>
          </a:xfrm>
          <a:prstGeom prst="rect">
            <a:avLst/>
          </a:prstGeom>
          <a:solidFill>
            <a:srgbClr val="F9E157">
              <a:alpha val="20000"/>
            </a:srgbClr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265176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GGUF Models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680960" y="2651760"/>
            <a:ext cx="1097280" cy="329184"/>
          </a:xfrm>
          <a:prstGeom prst="rect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2651760"/>
            <a:ext cx="1097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371600" y="3520440"/>
            <a:ext cx="6400800" cy="868680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611880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606040" y="3593592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1—  Team of 5 Members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2606040" y="3959352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Egypt Pioneers Initiative (DEPI)  ·  Round 4  ·  2026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DEPI Graduation Project  ·  2026</a:t>
            </a:r>
            <a:endParaRPr lang="en-US" sz="900" dirty="0"/>
          </a:p>
        </p:txBody>
      </p:sp>
      <p:pic>
        <p:nvPicPr>
          <p:cNvPr id="27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7945820" y="4614887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36192" y="758952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OUTLINE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493776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585216" cy="493776"/>
          </a:xfrm>
          <a:prstGeom prst="rect">
            <a:avLst/>
          </a:prstGeom>
          <a:solidFill>
            <a:srgbClr val="00D4AA">
              <a:alpha val="8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58521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152144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38988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Statement, Goals &amp; Vision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66176" y="1115568"/>
            <a:ext cx="512064" cy="49377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6176" y="1115568"/>
            <a:ext cx="512064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82496"/>
            <a:ext cx="8412480" cy="493776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682496"/>
            <a:ext cx="585216" cy="493776"/>
          </a:xfrm>
          <a:prstGeom prst="rect">
            <a:avLst/>
          </a:prstGeom>
          <a:solidFill>
            <a:srgbClr val="58D6FF">
              <a:alpha val="82000"/>
            </a:srgbClr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82496"/>
            <a:ext cx="58521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171907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1956816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Stack, Project Structure &amp; 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66176" y="1682496"/>
            <a:ext cx="512064" cy="493776"/>
          </a:xfrm>
          <a:prstGeom prst="rect">
            <a:avLst/>
          </a:prstGeom>
          <a:solidFill>
            <a:srgbClr val="58D6FF">
              <a:alpha val="20000"/>
            </a:srgbClr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682496"/>
            <a:ext cx="512064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8412480" cy="493776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49424"/>
            <a:ext cx="585216" cy="493776"/>
          </a:xfrm>
          <a:prstGeom prst="rect">
            <a:avLst/>
          </a:prstGeom>
          <a:solidFill>
            <a:srgbClr val="8B5CF6">
              <a:alpha val="8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49424"/>
            <a:ext cx="58521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228600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 Walkthrough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2523744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Chat, Voice, PDF RAG &amp; Session Management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66176" y="2249424"/>
            <a:ext cx="512064" cy="493776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2249424"/>
            <a:ext cx="512064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816352"/>
            <a:ext cx="8412480" cy="493776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16352"/>
            <a:ext cx="585216" cy="493776"/>
          </a:xfrm>
          <a:prstGeom prst="rect">
            <a:avLst/>
          </a:prstGeom>
          <a:solidFill>
            <a:srgbClr val="F78166">
              <a:alpha val="82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16352"/>
            <a:ext cx="58521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285292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LLM Integration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309067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Models, RAG Pipeline &amp; Audio Transcription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66176" y="2816352"/>
            <a:ext cx="512064" cy="493776"/>
          </a:xfrm>
          <a:prstGeom prst="rect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66176" y="2816352"/>
            <a:ext cx="512064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383280"/>
            <a:ext cx="8412480" cy="493776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383280"/>
            <a:ext cx="585216" cy="493776"/>
          </a:xfrm>
          <a:prstGeom prst="rect">
            <a:avLst/>
          </a:prstGeom>
          <a:solidFill>
            <a:srgbClr val="F9E157">
              <a:alpha val="82000"/>
            </a:srgbClr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83280"/>
            <a:ext cx="58521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8992" y="3419856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 &amp; Demo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78992" y="3657600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Interface, Screenshots &amp; Live Walkthrough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66176" y="3383280"/>
            <a:ext cx="512064" cy="493776"/>
          </a:xfrm>
          <a:prstGeom prst="rect">
            <a:avLst/>
          </a:prstGeom>
          <a:solidFill>
            <a:srgbClr val="F9E157">
              <a:alpha val="20000"/>
            </a:srgbClr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66176" y="3383280"/>
            <a:ext cx="512064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950208"/>
            <a:ext cx="8412480" cy="493776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3950208"/>
            <a:ext cx="585216" cy="493776"/>
          </a:xfrm>
          <a:prstGeom prst="rect">
            <a:avLst/>
          </a:prstGeom>
          <a:solidFill>
            <a:srgbClr val="1F6FEB">
              <a:alpha val="8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950208"/>
            <a:ext cx="58521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78992" y="3986784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Deep Dive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78992" y="4224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app.py Architecture &amp; Key Functions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66176" y="3950208"/>
            <a:ext cx="512064" cy="493776"/>
          </a:xfrm>
          <a:prstGeom prst="rect">
            <a:avLst/>
          </a:prstGeom>
          <a:solidFill>
            <a:srgbClr val="1F6FEB">
              <a:alpha val="20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66176" y="3950208"/>
            <a:ext cx="512064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F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4517136"/>
            <a:ext cx="8412480" cy="493776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4517136"/>
            <a:ext cx="585216" cy="493776"/>
          </a:xfrm>
          <a:prstGeom prst="rect">
            <a:avLst/>
          </a:prstGeom>
          <a:solidFill>
            <a:srgbClr val="3FB950">
              <a:alpha val="8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517136"/>
            <a:ext cx="58521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78992" y="455371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Privacy, Security &amp; Future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78992" y="4791456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Roadmap, Improvements &amp; Q&amp;A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66176" y="4517136"/>
            <a:ext cx="512064" cy="493776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66176" y="4517136"/>
            <a:ext cx="512064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pic>
        <p:nvPicPr>
          <p:cNvPr id="55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8368648" y="4887785"/>
            <a:ext cx="775352" cy="255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9160" y="-873547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96712" y="182880"/>
            <a:ext cx="1828800" cy="347472"/>
          </a:xfrm>
          <a:prstGeom prst="rect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88199" y="160546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43684" y="759387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60520" cy="13716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78992"/>
            <a:ext cx="54864" cy="13716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3385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444752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chatbots traditionally rely on cloud APIs and internet connectivity. This means sensitive conversations, uploaded documents, and audio recordings are transmitted to external servers — raising serious privacy concerns for personal, legal, medical, and enterprise use cases.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4160520" cy="13716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06040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609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fully self-contained AI platform running entirely on local hardware. No API keys. No cloud. No telemetry. Everything — LLM inference, RAG, audio transcription, and chat history — lives on your machine.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78992"/>
            <a:ext cx="1965960" cy="132588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22392" y="1216152"/>
            <a:ext cx="640080" cy="64008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80160"/>
            <a:ext cx="512064" cy="5120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754880" y="1929384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 First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2176272"/>
            <a:ext cx="1965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data leaves device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58000" y="1078992"/>
            <a:ext cx="1965960" cy="1325880"/>
          </a:xfrm>
          <a:prstGeom prst="rect">
            <a:avLst/>
          </a:prstGeom>
          <a:solidFill>
            <a:srgbClr val="21262D"/>
          </a:solidFill>
          <a:ln w="12700">
            <a:solidFill>
              <a:srgbClr val="58D6FF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25512" y="1216152"/>
            <a:ext cx="640080" cy="640080"/>
          </a:xfrm>
          <a:prstGeom prst="ellipse">
            <a:avLst/>
          </a:prstGeom>
          <a:solidFill>
            <a:srgbClr val="58D6FF">
              <a:alpha val="20000"/>
            </a:srgbClr>
          </a:solidFill>
          <a:ln w="12700">
            <a:solidFill>
              <a:srgbClr val="58D6FF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512064" cy="5120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0" y="1929384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Offline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58000" y="2176272"/>
            <a:ext cx="1965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internet dependency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754880" y="2560320"/>
            <a:ext cx="1965960" cy="132588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22392" y="2697480"/>
            <a:ext cx="640080" cy="64008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761488"/>
            <a:ext cx="512064" cy="5120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54880" y="3410712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LLMs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754880" y="3657600"/>
            <a:ext cx="1965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GGUF models on hardware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858000" y="2560320"/>
            <a:ext cx="1965960" cy="1325880"/>
          </a:xfrm>
          <a:prstGeom prst="rect">
            <a:avLst/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525512" y="2697480"/>
            <a:ext cx="640080" cy="640080"/>
          </a:xfrm>
          <a:prstGeom prst="ellipse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76148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58000" y="3410712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API Keys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858000" y="3657600"/>
            <a:ext cx="1965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self-sufficient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65760" y="4114800"/>
            <a:ext cx="841248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457200" y="415137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800" dirty="0"/>
          </a:p>
        </p:txBody>
      </p:sp>
      <p:sp>
        <p:nvSpPr>
          <p:cNvPr id="37" name="Text 31"/>
          <p:cNvSpPr/>
          <p:nvPr/>
        </p:nvSpPr>
        <p:spPr>
          <a:xfrm>
            <a:off x="457200" y="448056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Operation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2148840" y="415137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2148840" y="448056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Keys Needed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3840480" y="415137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3840480" y="448056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Inference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5532120" y="415137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</a:t>
            </a:r>
            <a:endParaRPr lang="en-US" sz="1800" dirty="0"/>
          </a:p>
        </p:txBody>
      </p:sp>
      <p:sp>
        <p:nvSpPr>
          <p:cNvPr id="43" name="Text 37"/>
          <p:cNvSpPr/>
          <p:nvPr/>
        </p:nvSpPr>
        <p:spPr>
          <a:xfrm>
            <a:off x="5532120" y="448056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Privacy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7223760" y="415137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45" name="Text 39"/>
          <p:cNvSpPr/>
          <p:nvPr/>
        </p:nvSpPr>
        <p:spPr>
          <a:xfrm>
            <a:off x="7223760" y="448056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</a:t>
            </a:r>
            <a:endParaRPr lang="en-US" sz="850" dirty="0"/>
          </a:p>
        </p:txBody>
      </p:sp>
      <p:pic>
        <p:nvPicPr>
          <p:cNvPr id="47" name="Google Shape;110;p1"/>
          <p:cNvPicPr preferRelativeResize="0"/>
          <p:nvPr/>
        </p:nvPicPr>
        <p:blipFill>
          <a:blip r:embed="rId5"/>
          <a:srcRect/>
          <a:stretch>
            <a:fillRect/>
          </a:stretch>
        </p:blipFill>
        <p:spPr>
          <a:xfrm>
            <a:off x="8293815" y="4773803"/>
            <a:ext cx="850185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999" y="-280306"/>
            <a:ext cx="2179738" cy="1229175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37673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222869"/>
            <a:ext cx="1828800" cy="347472"/>
          </a:xfrm>
          <a:prstGeom prst="rect">
            <a:avLst/>
          </a:prstGeom>
          <a:solidFill>
            <a:srgbClr val="58D6FF">
              <a:alpha val="18000"/>
            </a:srgbClr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72200" y="222869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94411" y="265759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0" y="728037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828800" cy="914400"/>
          </a:xfrm>
          <a:prstGeom prst="rect">
            <a:avLst/>
          </a:prstGeom>
          <a:solidFill>
            <a:srgbClr val="58D6FF">
              <a:alpha val="18000"/>
            </a:srgbClr>
          </a:solidFill>
          <a:ln w="19050">
            <a:solidFill>
              <a:srgbClr val="58D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97280"/>
            <a:ext cx="1828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(Text / Voice / Audio / PDF)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645920" cy="914400"/>
          </a:xfrm>
          <a:prstGeom prst="rect">
            <a:avLst/>
          </a:prstGeom>
          <a:solidFill>
            <a:srgbClr val="00D4AA">
              <a:alpha val="18000"/>
            </a:srgbClr>
          </a:solidFill>
          <a:ln w="1905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97280"/>
            <a:ext cx="1645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1645920" cy="914400"/>
          </a:xfrm>
          <a:prstGeom prst="rect">
            <a:avLst/>
          </a:prstGeom>
          <a:solidFill>
            <a:srgbClr val="8B5CF6">
              <a:alpha val="18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097280"/>
            <a:ext cx="1645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097280"/>
            <a:ext cx="2286000" cy="914400"/>
          </a:xfrm>
          <a:prstGeom prst="rect">
            <a:avLst/>
          </a:prstGeom>
          <a:solidFill>
            <a:srgbClr val="F78166">
              <a:alpha val="18000"/>
            </a:srgbClr>
          </a:solidFill>
          <a:ln w="19050">
            <a:solidFill>
              <a:srgbClr val="F78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09728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(CTransformers)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1828800" cy="822960"/>
          </a:xfrm>
          <a:prstGeom prst="rect">
            <a:avLst/>
          </a:prstGeom>
          <a:solidFill>
            <a:srgbClr val="F9E157">
              <a:alpha val="18000"/>
            </a:srgbClr>
          </a:solidFill>
          <a:ln w="19050">
            <a:solidFill>
              <a:srgbClr val="F9E1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83464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Whisper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ASR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2834640"/>
            <a:ext cx="1645920" cy="822960"/>
          </a:xfrm>
          <a:prstGeom prst="rect">
            <a:avLst/>
          </a:prstGeom>
          <a:solidFill>
            <a:srgbClr val="1F6FEB">
              <a:alpha val="18000"/>
            </a:srgbClr>
          </a:solidFill>
          <a:ln w="19050">
            <a:solidFill>
              <a:srgbClr val="1F6FE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2834640"/>
            <a:ext cx="1645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pypdfium2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Parser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2834640"/>
            <a:ext cx="1645920" cy="822960"/>
          </a:xfrm>
          <a:prstGeom prst="rect">
            <a:avLst/>
          </a:prstGeom>
          <a:solidFill>
            <a:srgbClr val="00D4AA">
              <a:alpha val="18000"/>
            </a:srgbClr>
          </a:solidFill>
          <a:ln w="1905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2834640"/>
            <a:ext cx="1645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2834640"/>
            <a:ext cx="2286000" cy="822960"/>
          </a:xfrm>
          <a:prstGeom prst="rect">
            <a:avLst/>
          </a:prstGeom>
          <a:solidFill>
            <a:srgbClr val="A78BFA">
              <a:alpha val="18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283464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InstructorEmbed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1545336"/>
            <a:ext cx="3657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1380744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0" y="1545336"/>
            <a:ext cx="3657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1380744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1545336"/>
            <a:ext cx="3657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1380744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103120" y="3236976"/>
            <a:ext cx="3657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76272" y="3072384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14800" y="3236976"/>
            <a:ext cx="3657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7952" y="3072384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3236976"/>
            <a:ext cx="3657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072384"/>
            <a:ext cx="228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3840480"/>
            <a:ext cx="8412480" cy="1051560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87705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 Project Structure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17880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app.py  —  Main UI &amp; Logic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91840" y="417880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llm_chains.py  —  LangChain Chains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417880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audio_handler.py  —  Whisper ASR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45312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pdf_handler.py  —  RAG Ingestion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91840" y="445312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utils.py  —  Helpers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445312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config.yaml  —  Settings</a:t>
            </a:r>
            <a:endParaRPr lang="en-US" sz="950" dirty="0"/>
          </a:p>
        </p:txBody>
      </p:sp>
      <p:pic>
        <p:nvPicPr>
          <p:cNvPr id="44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8138051" y="4774851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171" y="-301059"/>
            <a:ext cx="2179738" cy="1229175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98199" y="-816250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99013" y="182880"/>
            <a:ext cx="1828800" cy="347472"/>
          </a:xfrm>
          <a:prstGeom prst="rect">
            <a:avLst/>
          </a:prstGeom>
          <a:solidFill>
            <a:srgbClr val="58D6FF">
              <a:alpha val="18000"/>
            </a:srgbClr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99013" y="1828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" y="128016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6646" y="727789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  —  Continued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5720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1133856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83280" y="113385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1.29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540764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1540764"/>
            <a:ext cx="45720" cy="420624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61391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2688" y="157734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Inference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83280" y="157734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CTransformers 0.2.27 — GGUF Models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1984248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1984248"/>
            <a:ext cx="45720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574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" y="2020824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Orchestration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383280" y="2020824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0.0.354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65760" y="2427732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427732"/>
            <a:ext cx="45720" cy="42062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50088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" y="2464308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383280" y="246430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 0.4.22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2871216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65760" y="2871216"/>
            <a:ext cx="45720" cy="420624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94436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2688" y="2907792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83280" y="290779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InstructorEmbedding + sentence-transformers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65760" y="3314700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5760" y="3314700"/>
            <a:ext cx="45720" cy="420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387852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32688" y="3351276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Processing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3383280" y="33512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librosa 0.10.1 + OpenAI Whisper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365760" y="3758184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365760" y="3758184"/>
            <a:ext cx="45720" cy="42062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831336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32688" y="379476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Parsing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3383280" y="379476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6F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pypdfium2 4.24.0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365760" y="4201668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365760" y="4201668"/>
            <a:ext cx="45720" cy="42062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274820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32688" y="4238244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3383280" y="4238244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2.1.2 + Transformers 4.35.2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365760" y="4645152"/>
            <a:ext cx="8412480" cy="42062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365760" y="4645152"/>
            <a:ext cx="45720" cy="42062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4718304"/>
            <a:ext cx="274320" cy="27432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932688" y="4681728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Monitoring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3383280" y="468172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psutil + pynvml (NVIDIA NVML)</a:t>
            </a:r>
            <a:endParaRPr lang="en-US" sz="1100" dirty="0"/>
          </a:p>
        </p:txBody>
      </p:sp>
      <p:pic>
        <p:nvPicPr>
          <p:cNvPr id="53" name="Google Shape;110;p1"/>
          <p:cNvPicPr preferRelativeResize="0"/>
          <p:nvPr/>
        </p:nvPicPr>
        <p:blipFill>
          <a:blip r:embed="rId10"/>
          <a:srcRect/>
          <a:stretch>
            <a:fillRect/>
          </a:stretch>
        </p:blipFill>
        <p:spPr>
          <a:xfrm>
            <a:off x="8092385" y="4737227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10433" y="170635"/>
            <a:ext cx="1828800" cy="347472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10433" y="1828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" y="128016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48076" y="69667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594360" cy="59436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16736"/>
            <a:ext cx="484632" cy="484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207008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LLM Chat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1527048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streaming responses from GGUF models. No cloud required.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249424"/>
            <a:ext cx="278892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078992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01568" y="1261872"/>
            <a:ext cx="594360" cy="594360"/>
          </a:xfrm>
          <a:prstGeom prst="ellipse">
            <a:avLst/>
          </a:prstGeom>
          <a:solidFill>
            <a:srgbClr val="58D6FF">
              <a:alpha val="20000"/>
            </a:srgbClr>
          </a:solidFill>
          <a:ln w="12700">
            <a:solidFill>
              <a:srgbClr val="58D6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16736"/>
            <a:ext cx="484632" cy="4846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33088" y="1207008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Input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33088" y="1527048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from browser microphone, auto-transcribed via Whisper.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64408" y="2249424"/>
            <a:ext cx="2788920" cy="50292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08776" y="1078992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45936" y="1261872"/>
            <a:ext cx="594360" cy="594360"/>
          </a:xfrm>
          <a:prstGeom prst="ellipse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16736"/>
            <a:ext cx="484632" cy="4846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77456" y="1207008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RAG Chat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077456" y="1527048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PDFs, semantic search via ChromaDB, LLM answers from context.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08776" y="2249424"/>
            <a:ext cx="2788920" cy="502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20040" y="2432304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2615184"/>
            <a:ext cx="594360" cy="594360"/>
          </a:xfrm>
          <a:prstGeom prst="ellipse">
            <a:avLst/>
          </a:prstGeom>
          <a:solidFill>
            <a:srgbClr val="F9E157">
              <a:alpha val="20000"/>
            </a:srgbClr>
          </a:solidFill>
          <a:ln w="12700">
            <a:solidFill>
              <a:srgbClr val="F9E157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670048"/>
            <a:ext cx="484632" cy="4846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8720" y="256032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History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88720" y="2880360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sessions persisted as JSON locally. Resume any conversation.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0040" y="3602736"/>
            <a:ext cx="2788920" cy="5029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64408" y="2432304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401568" y="2615184"/>
            <a:ext cx="594360" cy="59436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670048"/>
            <a:ext cx="484632" cy="4846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33088" y="256032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Window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133088" y="2880360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Dynamically control context size (2–50 msgs) to balance performance.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264408" y="3602736"/>
            <a:ext cx="278892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08776" y="2432304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345936" y="2615184"/>
            <a:ext cx="594360" cy="594360"/>
          </a:xfrm>
          <a:prstGeom prst="ellipse">
            <a:avLst/>
          </a:prstGeom>
          <a:solidFill>
            <a:srgbClr val="1F6FEB">
              <a:alpha val="20000"/>
            </a:srgbClr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670048"/>
            <a:ext cx="484632" cy="4846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77456" y="256032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System Prompt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7077456" y="2880360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assistant persona and behavior. Saved directly to config.yaml.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6208776" y="3602736"/>
            <a:ext cx="2788920" cy="502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320040" y="3785616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57200" y="3968496"/>
            <a:ext cx="594360" cy="594360"/>
          </a:xfrm>
          <a:prstGeom prst="ellipse">
            <a:avLst/>
          </a:prstGeom>
          <a:solidFill>
            <a:srgbClr val="00A87E">
              <a:alpha val="20000"/>
            </a:srgbClr>
          </a:solidFill>
          <a:ln w="12700">
            <a:solidFill>
              <a:srgbClr val="00A87E"/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4023360"/>
            <a:ext cx="484632" cy="48463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188720" y="3913632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Generation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1188720" y="4233672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Interrupt streaming responses instantly. Thread-safe stop event.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320040" y="4956048"/>
            <a:ext cx="2788920" cy="50292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3264408" y="3785616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3401568" y="3968496"/>
            <a:ext cx="594360" cy="594360"/>
          </a:xfrm>
          <a:prstGeom prst="ellipse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4023360"/>
            <a:ext cx="484632" cy="484632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133088" y="3913632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Chats</a:t>
            </a:r>
            <a:endParaRPr lang="en-US" sz="1200" dirty="0"/>
          </a:p>
        </p:txBody>
      </p:sp>
      <p:sp>
        <p:nvSpPr>
          <p:cNvPr id="53" name="Text 43"/>
          <p:cNvSpPr/>
          <p:nvPr/>
        </p:nvSpPr>
        <p:spPr>
          <a:xfrm>
            <a:off x="4133088" y="4233672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conversations as TXT or JSON for backup or analysis.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3264408" y="4956048"/>
            <a:ext cx="278892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6208776" y="3785616"/>
            <a:ext cx="278892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6345936" y="3968496"/>
            <a:ext cx="594360" cy="594360"/>
          </a:xfrm>
          <a:prstGeom prst="ellipse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023360"/>
            <a:ext cx="484632" cy="484632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7077456" y="3913632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Monitor</a:t>
            </a:r>
            <a:endParaRPr lang="en-US" sz="1200" dirty="0"/>
          </a:p>
        </p:txBody>
      </p:sp>
      <p:sp>
        <p:nvSpPr>
          <p:cNvPr id="59" name="Text 48"/>
          <p:cNvSpPr/>
          <p:nvPr/>
        </p:nvSpPr>
        <p:spPr>
          <a:xfrm>
            <a:off x="7077456" y="4233672"/>
            <a:ext cx="181051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CPU, RAM, GPU &amp; VRAM stats in the sidebar via psutil + NVML.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6208776" y="4956048"/>
            <a:ext cx="2788920" cy="502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62" name="Google Shape;110;p1"/>
          <p:cNvPicPr preferRelativeResize="0"/>
          <p:nvPr/>
        </p:nvPicPr>
        <p:blipFill>
          <a:blip r:embed="rId10"/>
          <a:srcRect/>
          <a:stretch>
            <a:fillRect/>
          </a:stretch>
        </p:blipFill>
        <p:spPr>
          <a:xfrm>
            <a:off x="8128907" y="4741482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910138" y="-8439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00600" y="201168"/>
            <a:ext cx="1828800" cy="347472"/>
          </a:xfrm>
          <a:prstGeom prst="rect">
            <a:avLst/>
          </a:prstGeom>
          <a:solidFill>
            <a:srgbClr val="F78166">
              <a:alpha val="18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31911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2144" y="105156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LLM Integration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694944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3566160" cy="29260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78992"/>
            <a:ext cx="54864" cy="2926080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33856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133856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Supported GGUF Models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1645920"/>
            <a:ext cx="50292" cy="201168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459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 2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1938528"/>
            <a:ext cx="50292" cy="201168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193852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Mistral 7B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231136"/>
            <a:ext cx="50292" cy="201168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22311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TinyLlama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2523744"/>
            <a:ext cx="50292" cy="201168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252374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Phi-2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2816352"/>
            <a:ext cx="50292" cy="201168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28163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Gemma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108960"/>
            <a:ext cx="50292" cy="201168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310896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401568"/>
            <a:ext cx="50292" cy="201168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4015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CTransformers GGUF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0" y="1078992"/>
            <a:ext cx="4663440" cy="29260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114800" y="1078992"/>
            <a:ext cx="54864" cy="29260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33856"/>
            <a:ext cx="402336" cy="40233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00600" y="1133856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Pipeline (PDF Chat)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251960" y="1645920"/>
            <a:ext cx="320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663440" y="164592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PDF documents via Streamlit sidebar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251960" y="1965960"/>
            <a:ext cx="320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✂️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663440" y="196596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pypdfium2 chunks and parses document text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251960" y="2286000"/>
            <a:ext cx="320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🧬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663440" y="228600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InstructorEmbedding vectorizes text chunks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251960" y="2606040"/>
            <a:ext cx="320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663440" y="260604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Vectors stored in local ChromaDB collection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251960" y="2926080"/>
            <a:ext cx="320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4663440" y="29260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 search on user query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4251960" y="3246120"/>
            <a:ext cx="320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📤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4663440" y="324612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Top-k chunks injected into LLM context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4251960" y="3566160"/>
            <a:ext cx="320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4663440" y="356616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CTransformers LLM generates grounded answer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329184" y="4069080"/>
            <a:ext cx="8412480" cy="731520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61104"/>
            <a:ext cx="384048" cy="38404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024128" y="4242816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Pipeline: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2468880" y="4242816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🎤 Record / Upload WAV·MP3·OGG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3438144" y="4242816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Text 43"/>
          <p:cNvSpPr/>
          <p:nvPr/>
        </p:nvSpPr>
        <p:spPr>
          <a:xfrm>
            <a:off x="4407408" y="4242816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🔊 librosa resamples &amp; normalizes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5376672" y="4242816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Text 45"/>
          <p:cNvSpPr/>
          <p:nvPr/>
        </p:nvSpPr>
        <p:spPr>
          <a:xfrm>
            <a:off x="6345936" y="4242816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✍️ Whisper ASR transcribes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7315200" y="4242816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Text 47"/>
          <p:cNvSpPr/>
          <p:nvPr/>
        </p:nvSpPr>
        <p:spPr>
          <a:xfrm>
            <a:off x="7918704" y="4242816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LLM summarizes / responds</a:t>
            </a:r>
            <a:endParaRPr lang="en-US" sz="850" dirty="0"/>
          </a:p>
        </p:txBody>
      </p:sp>
      <p:pic>
        <p:nvPicPr>
          <p:cNvPr id="54" name="Google Shape;110;p1"/>
          <p:cNvPicPr preferRelativeResize="0"/>
          <p:nvPr/>
        </p:nvPicPr>
        <p:blipFill>
          <a:blip r:embed="rId4"/>
          <a:srcRect/>
          <a:stretch>
            <a:fillRect/>
          </a:stretch>
        </p:blipFill>
        <p:spPr>
          <a:xfrm>
            <a:off x="8324193" y="4778375"/>
            <a:ext cx="819807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74296" y="-834832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86585" y="667512"/>
            <a:ext cx="1828800" cy="347472"/>
          </a:xfrm>
          <a:prstGeom prst="rect">
            <a:avLst/>
          </a:prstGeom>
          <a:solidFill>
            <a:srgbClr val="F9E157">
              <a:alpha val="18000"/>
            </a:srgbClr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86585" y="66751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06285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 — Settings Panel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47356" y="730144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5212080" cy="3749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143000"/>
            <a:ext cx="50292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07899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078992"/>
            <a:ext cx="54864" cy="8503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1338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Monitor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14356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CPU, RAM &amp; GPU with animated progress bars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03911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039112"/>
            <a:ext cx="54864" cy="850392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0939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Selector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239572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between any GGUF model at runtime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299923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2999232"/>
            <a:ext cx="54864" cy="85039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0540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GGUF File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335584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Dropdown scans models/ directory automatically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395935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3959352"/>
            <a:ext cx="54864" cy="8503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401421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Theme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0" y="431596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CSS dark UI with Segoe UI typography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892040"/>
            <a:ext cx="5212080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65760" y="4892040"/>
            <a:ext cx="5212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Settings &amp; Hardware Monitor Sidebar</a:t>
            </a:r>
            <a:endParaRPr lang="en-US" sz="900" dirty="0"/>
          </a:p>
        </p:txBody>
      </p:sp>
      <p:pic>
        <p:nvPicPr>
          <p:cNvPr id="28" name="Google Shape;110;p1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8092385" y="4736909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05" y="722376"/>
            <a:ext cx="1828800" cy="347472"/>
          </a:xfrm>
          <a:prstGeom prst="rect">
            <a:avLst/>
          </a:prstGeom>
          <a:solidFill>
            <a:srgbClr val="F9E157">
              <a:alpha val="18000"/>
            </a:srgbClr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2819" y="7404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72960" y="229625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 — Memory &amp; Sessions</a:t>
            </a:r>
            <a:endParaRPr lang="ar-EG" sz="2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85476" y="584586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  —  Continued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5212080" cy="3749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143000"/>
            <a:ext cx="50292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07899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078992"/>
            <a:ext cx="54864" cy="850392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1338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Window Slider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14356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Dynamically controls how many past messages the LLM sees (2–50)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03911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039112"/>
            <a:ext cx="54864" cy="8503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0939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Chat Toggle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239572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Switches the chain between normal chat and ChromaDB RAG mode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299923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2999232"/>
            <a:ext cx="54864" cy="85039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0540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Session Manager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335584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Dropdown lists all saved sessions, sorted by last-modified time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395935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3959352"/>
            <a:ext cx="54864" cy="8503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401421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Upload Widget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0" y="431596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Drag-and-drop WAV/MP3/OGG — auto-transcribes and summarizes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892040"/>
            <a:ext cx="5212080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65760" y="4892040"/>
            <a:ext cx="5212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Window &amp; Session Management Sidebar</a:t>
            </a:r>
            <a:endParaRPr lang="en-US" sz="900" dirty="0"/>
          </a:p>
        </p:txBody>
      </p:sp>
      <p:pic>
        <p:nvPicPr>
          <p:cNvPr id="28" name="Google Shape;110;p1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8138051" y="4736909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658368"/>
            <a:ext cx="1828800" cy="347472"/>
          </a:xfrm>
          <a:prstGeom prst="rect">
            <a:avLst/>
          </a:prstGeom>
          <a:solidFill>
            <a:srgbClr val="F9E157">
              <a:alpha val="18000"/>
            </a:srgbClr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66751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7499" y="224028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 — Input &amp; Upload Panel</a:t>
            </a:r>
            <a:endParaRPr lang="ar-EG" sz="2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57150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  —  Continued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5212080" cy="3749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143000"/>
            <a:ext cx="50292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07899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078992"/>
            <a:ext cx="54864" cy="8503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1338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 Recorder Button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14356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streamlit-mic-recorder captures browser audio for voice queries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03911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039112"/>
            <a:ext cx="54864" cy="8503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0939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&amp; Stop Buttons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239572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CSS gradient buttons with hover effects and threading stop event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299923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2999232"/>
            <a:ext cx="54864" cy="8503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0540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Upload Drop Zone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335584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Multi-file PDF uploader — triggers ChromaDB ingestion on first upload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3959352"/>
            <a:ext cx="301752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3959352"/>
            <a:ext cx="54864" cy="850392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401421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Typing Animation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0" y="431596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CSS blinking cursor renders as tokens stream from the LLM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892040"/>
            <a:ext cx="5212080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65760" y="4892040"/>
            <a:ext cx="5212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Row — Voice · Send · Stop  +  File Upload Widgets</a:t>
            </a:r>
            <a:endParaRPr lang="en-US" sz="900" dirty="0"/>
          </a:p>
        </p:txBody>
      </p:sp>
      <p:pic>
        <p:nvPicPr>
          <p:cNvPr id="28" name="Google Shape;110;p1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8092385" y="4728083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9492" y="643916"/>
            <a:ext cx="1828800" cy="347472"/>
          </a:xfrm>
          <a:prstGeom prst="rect">
            <a:avLst/>
          </a:prstGeom>
          <a:solidFill>
            <a:srgbClr val="F9E157">
              <a:alpha val="18000"/>
            </a:srgbClr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9492" y="654215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2510" y="81928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 — Live Chat Response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2510" y="71762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  —  Continued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5486400" cy="3749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143000"/>
            <a:ext cx="530352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078992"/>
            <a:ext cx="274320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1078992"/>
            <a:ext cx="54864" cy="8503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1338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Bubbles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99632" y="143560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Styled with custom CSS — distinct colors for user vs assistant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2039112"/>
            <a:ext cx="274320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2039112"/>
            <a:ext cx="54864" cy="850392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9632" y="20939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Numbered LLM Output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9632" y="239572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returns structured answers; rendered via st.markdown()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2999232"/>
            <a:ext cx="274320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2999232"/>
            <a:ext cx="54864" cy="8503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30540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99632" y="3355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Prepended to every query: [SYSTEM]...[/SYSTEM] wrapper pattern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3959352"/>
            <a:ext cx="2743200" cy="85039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35040" y="3959352"/>
            <a:ext cx="54864" cy="85039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99632" y="40142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Dropdown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99632" y="431596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Auto-named sessions using LLM title generation on first message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Chat  —  Streaming Markdown Response with Copy Button</a:t>
            </a:r>
            <a:endParaRPr lang="en-US" sz="900" dirty="0"/>
          </a:p>
        </p:txBody>
      </p:sp>
      <p:pic>
        <p:nvPicPr>
          <p:cNvPr id="28" name="Google Shape;110;p1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8138051" y="4754880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44939" y="688065"/>
            <a:ext cx="1828800" cy="347472"/>
          </a:xfrm>
          <a:prstGeom prst="rect">
            <a:avLst/>
          </a:prstGeom>
          <a:solidFill>
            <a:srgbClr val="1F6FEB">
              <a:alpha val="18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44939" y="70535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6F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51186" y="221721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Deep Dive — app.py Architecture</a:t>
            </a:r>
            <a:endParaRPr lang="ar-EG" sz="2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31209" y="601771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78992"/>
            <a:ext cx="54864" cy="5303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inject_css()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35331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Injects 200+ lines of custom CSS into Streamlit — dark theme, animated buttons, chat bubbles, copy-button JS, typing cursor animation.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50492"/>
            <a:ext cx="84124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50492"/>
            <a:ext cx="54864" cy="530352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6962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render_monitor()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192481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HTML progress bars for CPU/RAM/GPU using psutil + pynvml. Runs inside the sidebar context to avoid HTML leaking into main area.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21992"/>
            <a:ext cx="84124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21992"/>
            <a:ext cx="54864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677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stream_response()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249631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Iterates LLM token stream with threading.Event() stop control. Falls back to .run() for non-streaming models. Wraps system prompt inline.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93492"/>
            <a:ext cx="84124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93492"/>
            <a:ext cx="54864" cy="5303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392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save_chat_history()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06781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Persists history to JSON. Avoids touching session_key (widget-owned). Uses new_session_key + session_index_tracker for safe state updates.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84124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64992"/>
            <a:ext cx="54864" cy="530352"/>
          </a:xfrm>
          <a:prstGeom prst="rect">
            <a:avLst/>
          </a:prstGeom>
          <a:solidFill>
            <a:srgbClr val="F9E157"/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4107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15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load_chain()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363931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to load_pdf_chat_chain() (RAG mode) or load_normal_chain() (standard) based on pdf_chat session flag.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936492"/>
            <a:ext cx="84124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36492"/>
            <a:ext cx="54864" cy="5303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9822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generate_session_name()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421081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Invokes the LLM with a title-generation prompt on the user's first message. Sanitizes filename, deduplicates with a counter suffix.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507992"/>
            <a:ext cx="84124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507992"/>
            <a:ext cx="54864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5537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render_message()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478231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Splits content on ``` fences, renders code blocks via st.code(), prose via st.markdown(), and injects a copy-button via innerHTML trick.</a:t>
            </a:r>
            <a:endParaRPr lang="en-US" sz="950" dirty="0"/>
          </a:p>
        </p:txBody>
      </p:sp>
      <p:pic>
        <p:nvPicPr>
          <p:cNvPr id="36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8110673" y="4765027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902" y="-336529"/>
            <a:ext cx="2179738" cy="122917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640080"/>
            <a:ext cx="1828800" cy="347472"/>
          </a:xfrm>
          <a:prstGeom prst="rect">
            <a:avLst/>
          </a:prstGeom>
          <a:solidFill>
            <a:srgbClr val="1F6FEB">
              <a:alpha val="18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64922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6F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9655" y="96012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Deep Dive — Key Engineering Patterns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88897" y="740664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  —  Continued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2519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50292" cy="18745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5214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Thread-Safe Stop 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1463040"/>
            <a:ext cx="4023360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508760"/>
            <a:ext cx="3913632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stop_event = threading.Event()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chunk in llm_chain.stream(question):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stop_event.is_set(): break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full_text += chunk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27448" y="1078992"/>
            <a:ext cx="42519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58D6FF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078992"/>
            <a:ext cx="50292" cy="1874520"/>
          </a:xfrm>
          <a:prstGeom prst="rect">
            <a:avLst/>
          </a:prstGeom>
          <a:solidFill>
            <a:srgbClr val="58D6FF"/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15214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Window Slicing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37176" y="1463040"/>
            <a:ext cx="4023360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08760"/>
            <a:ext cx="3913632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window &gt; 0 and len(history) &gt; window: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st.session_state.history = history[-window:]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72384"/>
            <a:ext cx="42519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72384"/>
            <a:ext cx="50292" cy="18745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4553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Key Safety (Widget-Owned State)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3456432"/>
            <a:ext cx="4023360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502152"/>
            <a:ext cx="3913632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Never write session_key directly — it's widget-owned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st.session_state.session_index_tracker = new_filename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selectbox reads index= from tracker on next rerun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3072384"/>
            <a:ext cx="4251960" cy="187452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3072384"/>
            <a:ext cx="50292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14553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 Injection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37176" y="3456432"/>
            <a:ext cx="4023360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502152"/>
            <a:ext cx="3913632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system_prompt: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question = f"[SYSTEM]\n{system_prompt}\n[/SYSTEM]\n\n{question}"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5074920"/>
            <a:ext cx="850392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5074920"/>
            <a:ext cx="8321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Pattern: Streamlit reruns the entire script on each interaction — all state flows through st.session_state; widget keys are never overwritten from code logic.</a:t>
            </a:r>
            <a:endParaRPr lang="en-US" sz="950" dirty="0"/>
          </a:p>
        </p:txBody>
      </p:sp>
      <p:pic>
        <p:nvPicPr>
          <p:cNvPr id="30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8138051" y="4823092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30251" y="182880"/>
            <a:ext cx="1828800" cy="347472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30251" y="1828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 &amp; Security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92924" y="74980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94760" y="1005840"/>
            <a:ext cx="1554480" cy="155448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170432"/>
            <a:ext cx="1005840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2743200"/>
            <a:ext cx="3108960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F7816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743200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279806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API Keys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30632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external service credentials required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493008"/>
            <a:ext cx="3108960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F7816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3493008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60120" y="354787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Cloud Processing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38130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inference runs on local CPU/GPU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4242816"/>
            <a:ext cx="3108960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F7816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4242816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0120" y="429768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Third-Party Data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60120" y="45628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 and audio never leave the machine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0" y="2743200"/>
            <a:ext cx="3108960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F7816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60720" y="2743200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63640" y="279806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Internet Required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30632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air-gapped operation supported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69280" y="3493008"/>
            <a:ext cx="3108960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00D4A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760720" y="3493008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263640" y="354787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Storage Only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63640" y="38130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history files stored in chat_history/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69280" y="4242816"/>
            <a:ext cx="3108960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00D4A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760720" y="4242816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263640" y="429768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Data Ownership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63640" y="45628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controls every file and model asset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Data Never Leaves Your Device</a:t>
            </a:r>
            <a:endParaRPr lang="en-US" sz="1600" dirty="0"/>
          </a:p>
        </p:txBody>
      </p:sp>
      <p:pic>
        <p:nvPicPr>
          <p:cNvPr id="35" name="Google Shape;110;p1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8138051" y="4763133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47390" y="634720"/>
            <a:ext cx="1828800" cy="347472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47390" y="63514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4328" y="221979"/>
            <a:ext cx="6400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0303" y="74980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07  —  Continued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788920" cy="3767328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2788920" cy="384048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78992"/>
            <a:ext cx="2788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 —  Near Term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572768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Multi-language UI support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322576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GPU acceleration optimization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072384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 Mobile-responsive layout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675888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822192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Improved semantic search ranking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64408" y="1078992"/>
            <a:ext cx="2788920" cy="3767328"/>
          </a:xfrm>
          <a:prstGeom prst="rect">
            <a:avLst/>
          </a:prstGeom>
          <a:solidFill>
            <a:srgbClr val="21262D"/>
          </a:solidFill>
          <a:ln w="12700">
            <a:solidFill>
              <a:srgbClr val="58D6FF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64408" y="1078992"/>
            <a:ext cx="2788920" cy="384048"/>
          </a:xfrm>
          <a:prstGeom prst="rect">
            <a:avLst/>
          </a:prstGeom>
          <a:solidFill>
            <a:srgbClr val="58D6FF">
              <a:alpha val="25000"/>
            </a:srgbClr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078992"/>
            <a:ext cx="2788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 —  Mid Term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1572768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🖼️ (</a:t>
            </a:r>
            <a:r>
              <a:rPr lang="en-US" sz="1150" dirty="0" err="1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LLaVA</a:t>
            </a: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/ multimodal)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55848" y="2176272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2322576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🧩 Plugin / extension system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55848" y="2926080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3072384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Usage analytics dashboard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55848" y="3675888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822192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🔐 Conversation encryption at rest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08776" y="1078992"/>
            <a:ext cx="2788920" cy="3767328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078992"/>
            <a:ext cx="2788920" cy="384048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1078992"/>
            <a:ext cx="2788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 —  Long Term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18504" y="1572768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🤝 Multi-agent collaboration framework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0216" y="2176272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2322576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🎙️ Real-time voice conversation mode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0216" y="2926080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3072384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Folder-level RAG ingestion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00216" y="3675888"/>
            <a:ext cx="2606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3822192"/>
            <a:ext cx="25786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Long-term memory across sessions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0040" y="4944118"/>
            <a:ext cx="850392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8348" y="4878641"/>
            <a:ext cx="8321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Built for DEPI Round 4  ·  Designed to evolve into a production-grade private AI workspace</a:t>
            </a:r>
            <a:endParaRPr lang="en-US" sz="1000" dirty="0"/>
          </a:p>
        </p:txBody>
      </p:sp>
      <p:pic>
        <p:nvPicPr>
          <p:cNvPr id="40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8138051" y="4745214"/>
            <a:ext cx="1005949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0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8101685" y="4810611"/>
            <a:ext cx="1005949" cy="2525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 Box 27"/>
          <p:cNvSpPr txBox="1"/>
          <p:nvPr/>
        </p:nvSpPr>
        <p:spPr>
          <a:xfrm>
            <a:off x="2964180" y="920750"/>
            <a:ext cx="3048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400" b="1">
                <a:solidFill>
                  <a:srgbClr val="00B050"/>
                </a:solidFill>
                <a:latin typeface="Microsoft YaHei UI" panose="020B0503020204020204" charset="-122"/>
                <a:ea typeface="Microsoft YaHei UI" panose="020B0503020204020204" charset="-122"/>
              </a:rPr>
              <a:t>TEAM </a:t>
            </a:r>
            <a:endParaRPr lang="en-US" sz="4400" b="1">
              <a:solidFill>
                <a:srgbClr val="00B050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99060" y="159956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00B0F0"/>
                </a:solidFill>
              </a:rPr>
              <a:t>1- Omar Tamer </a:t>
            </a:r>
            <a:endParaRPr lang="en-US" sz="2400" b="1">
              <a:solidFill>
                <a:srgbClr val="00B0F0"/>
              </a:solidFill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99060" y="223774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00B0F0"/>
                </a:solidFill>
              </a:rPr>
              <a:t>2- Mina Youssef </a:t>
            </a:r>
            <a:endParaRPr lang="en-US" sz="2400" b="1">
              <a:solidFill>
                <a:srgbClr val="00B0F0"/>
              </a:solidFill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99060" y="285496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00B0F0"/>
                </a:solidFill>
              </a:rPr>
              <a:t>3-Mahmoud Alaa</a:t>
            </a:r>
            <a:endParaRPr lang="en-US" sz="2400" b="1">
              <a:solidFill>
                <a:srgbClr val="00B0F0"/>
              </a:solidFill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9060" y="347218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00B0F0"/>
                </a:solidFill>
              </a:rPr>
              <a:t>4- Seif Ayman </a:t>
            </a:r>
            <a:endParaRPr lang="en-US" sz="2400" b="1">
              <a:solidFill>
                <a:srgbClr val="00B0F0"/>
              </a:solidFill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99060" y="411035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00B0F0"/>
                </a:solidFill>
              </a:rPr>
              <a:t>5- Hussien Alaa</a:t>
            </a:r>
            <a:endParaRPr lang="en-US" sz="2400" b="1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3007" y="123444"/>
            <a:ext cx="1923393" cy="1565711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0" y="182880"/>
            <a:ext cx="1371600" cy="13716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6030" y="442184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Multi-Model Offline Chat App  ·  DEPI Final Project Round 4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0" y="3063240"/>
            <a:ext cx="54864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2D3748"/>
            </a:solidFill>
            <a:prstDash val="solid"/>
          </a:ln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145536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3108960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743200" y="3456432"/>
            <a:ext cx="42976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Egypt Pioneers Initiative (DEPI)  ·  Round 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47472" y="4434840"/>
            <a:ext cx="1152144" cy="274320"/>
          </a:xfrm>
          <a:prstGeom prst="rect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43484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609344" y="4434840"/>
            <a:ext cx="1152144" cy="274320"/>
          </a:xfrm>
          <a:prstGeom prst="rect">
            <a:avLst/>
          </a:prstGeom>
          <a:solidFill>
            <a:srgbClr val="58D6FF">
              <a:alpha val="18000"/>
            </a:srgbClr>
          </a:solidFill>
          <a:ln w="12700">
            <a:solidFill>
              <a:srgbClr val="58D6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609344" y="443484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D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871216" y="4434840"/>
            <a:ext cx="1152144" cy="27432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871216" y="443484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CTransformers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133088" y="4434840"/>
            <a:ext cx="1152144" cy="274320"/>
          </a:xfrm>
          <a:prstGeom prst="rect">
            <a:avLst/>
          </a:prstGeom>
          <a:solidFill>
            <a:srgbClr val="F78166">
              <a:alpha val="18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33088" y="443484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8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394960" y="4434840"/>
            <a:ext cx="1152144" cy="274320"/>
          </a:xfrm>
          <a:prstGeom prst="rect">
            <a:avLst/>
          </a:prstGeom>
          <a:solidFill>
            <a:srgbClr val="F9E157">
              <a:alpha val="18000"/>
            </a:srgbClr>
          </a:solidFill>
          <a:ln w="12700">
            <a:solidFill>
              <a:srgbClr val="F9E15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94960" y="443484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E1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Whisper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656832" y="4434840"/>
            <a:ext cx="1152144" cy="274320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56832" y="443484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918704" y="4434840"/>
            <a:ext cx="1152144" cy="274320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18704" y="443484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psutil + NVML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57200" y="4800600"/>
            <a:ext cx="8229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github.com/OmarTamer2004/DEPI-FINAL-PROJECT-R4_Multi-Local-Offline-Chat-App</a:t>
            </a:r>
            <a:endParaRPr lang="en-US" sz="850" dirty="0"/>
          </a:p>
        </p:txBody>
      </p:sp>
      <p:pic>
        <p:nvPicPr>
          <p:cNvPr id="30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8101685" y="4810611"/>
            <a:ext cx="1005949" cy="252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902" y="-251451"/>
            <a:ext cx="2179738" cy="122917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29160" y="-885176"/>
            <a:ext cx="2589839" cy="2574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8557</Words>
  <Application>WPS Presentation</Application>
  <PresentationFormat>On-screen Show (16:9)</PresentationFormat>
  <Paragraphs>626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Aldhabi</vt:lpstr>
      <vt:lpstr>Bodoni MT</vt:lpstr>
      <vt:lpstr>Broadway</vt:lpstr>
      <vt:lpstr>Cascadia Code Light</vt:lpstr>
      <vt:lpstr>Elephant</vt:lpstr>
      <vt:lpstr>Gadugi</vt:lpstr>
      <vt:lpstr>Gloucester MT Extra Condensed</vt:lpstr>
      <vt:lpstr>Goudy Stout</vt:lpstr>
      <vt:lpstr>Microsoft YaHei UI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Local Offline Chat App — DEPI R4</dc:title>
  <dc:creator>PptxGenJS</dc:creator>
  <dc:subject>PptxGenJS Presentation</dc:subject>
  <cp:lastModifiedBy>3zabiano</cp:lastModifiedBy>
  <cp:revision>5</cp:revision>
  <dcterms:created xsi:type="dcterms:W3CDTF">2026-05-17T21:53:00Z</dcterms:created>
  <dcterms:modified xsi:type="dcterms:W3CDTF">2026-07-05T18:35:56Z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A1841BFB432246A8AE695109AF8EC3E3_13</vt:lpwstr>
  </property>
</Properties>
</file>